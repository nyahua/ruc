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6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17498-6910-4EAA-8288-4A2198D02E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408D05-F2AF-4300-8E3B-E33EC46E70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20CC3D-6A33-47A0-B56A-DD2A26E38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CEA96-27CD-4F8C-B651-E5DE021FCE7E}" type="datetimeFigureOut">
              <a:rPr lang="en-US" smtClean="0"/>
              <a:t>12/5/2021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7E5273-4F0E-4196-8F3F-6AAF267DB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2FCF5-9B58-4B77-A447-5C7B82EEF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90D37-741A-4FCF-AC2E-08925428E1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574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0F1F5-355F-4492-B48A-3A297CA6C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0E3EE-9AEC-437E-A841-6BD1A086E6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FAA73-E1AA-4592-8EA3-50DBC9624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CEA96-27CD-4F8C-B651-E5DE021FCE7E}" type="datetimeFigureOut">
              <a:rPr lang="en-US" smtClean="0"/>
              <a:t>12/5/2021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2883B-98D8-4468-BA68-EC3E16BB0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15FCF-A8D5-4416-87FA-56C2576FA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90D37-741A-4FCF-AC2E-08925428E1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691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6D5FD-FC5A-4DA7-9510-881E90E53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D0F6E2-9DDA-4679-94A9-D6EA06786A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D220F7-D8C9-423E-847A-CEB0BC546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CEA96-27CD-4F8C-B651-E5DE021FCE7E}" type="datetimeFigureOut">
              <a:rPr lang="en-US" smtClean="0"/>
              <a:t>12/5/2021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7585FF-21F5-48C9-8D3B-DA97D8DAB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78224A-A822-43AD-B432-5F17E19F3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90D37-741A-4FCF-AC2E-08925428E1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161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32165-D9C6-4D2E-AC6A-EF9FDD794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A132F-B299-464B-B1E2-DB667CBB13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800231-3CFD-478C-9B53-4F1CF42E90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368119-412C-420C-A513-D148E4A28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CEA96-27CD-4F8C-B651-E5DE021FCE7E}" type="datetimeFigureOut">
              <a:rPr lang="en-US" smtClean="0"/>
              <a:t>12/5/2021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3AC7E3-6369-4F62-A58A-C02EBB8DE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D5E7CC-FFBE-468E-BBA5-1458A633A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90D37-741A-4FCF-AC2E-08925428E1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387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EF70E-D3A4-4925-8CA5-263F587EA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F885FD-A045-4F7E-A06F-E42BD041F2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DBDED6-467B-4B76-8F85-1D8FE05842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A997EC-E8AC-44E0-8DCE-516476E09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7C6B0F-F32F-46EB-BF49-ED0E76B39E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6B860C-C1CB-4D49-A99A-2FC656063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CEA96-27CD-4F8C-B651-E5DE021FCE7E}" type="datetimeFigureOut">
              <a:rPr lang="en-US" smtClean="0"/>
              <a:t>12/5/2021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5BA436-A01B-4F8A-9805-A647E8917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144EAE-92F6-46A6-B574-A2E0E09C8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90D37-741A-4FCF-AC2E-08925428E1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975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95385-A1A1-4506-8AC1-3E74AF982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6866FD-0725-4F12-A89D-462ED2CED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CEA96-27CD-4F8C-B651-E5DE021FCE7E}" type="datetimeFigureOut">
              <a:rPr lang="en-US" smtClean="0"/>
              <a:t>12/5/2021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332670-CA5A-4C0C-98D8-74C4E317D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4D9EBB-651F-4B1B-8607-4A35C8805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90D37-741A-4FCF-AC2E-08925428E1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517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023857-FD66-4195-BAAC-C50710A76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CEA96-27CD-4F8C-B651-E5DE021FCE7E}" type="datetimeFigureOut">
              <a:rPr lang="en-US" smtClean="0"/>
              <a:t>12/5/2021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14D51F-4928-4627-A606-EC70DE89D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B3EAF9-086B-4F53-9DD7-AD45FB894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90D37-741A-4FCF-AC2E-08925428E1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511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DA3AA-63E0-472C-A745-65A752BB1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8886B-068C-4503-821E-8B1D7AA8E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BC777A-7BE0-40DF-A716-680F7AA5BB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1727A3-4523-4BE0-A7EF-E5E5E48D2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CEA96-27CD-4F8C-B651-E5DE021FCE7E}" type="datetimeFigureOut">
              <a:rPr lang="en-US" smtClean="0"/>
              <a:t>12/5/2021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7916A6-1145-4E1F-ABCC-AA3D2C1CC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44C819-4569-4FAA-8586-BCD5F04F4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90D37-741A-4FCF-AC2E-08925428E1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391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438B2-2A74-4AF2-A8F4-E5A4FFC94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9FBFD5-6B35-49AA-ABF6-DA2EA937EA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0187A2-39D3-45BA-8E9B-B280732C45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B3B5FE-9DF2-4FAD-9545-226205318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CEA96-27CD-4F8C-B651-E5DE021FCE7E}" type="datetimeFigureOut">
              <a:rPr lang="en-US" smtClean="0"/>
              <a:t>12/5/2021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4AE58A-EACE-441C-8026-D8F7F19A2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98EC1D-BBD2-4BB5-A8A6-67DE6F99C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90D37-741A-4FCF-AC2E-08925428E1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233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23B97-1F72-4B2A-8D97-6831B0172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6370C7-07F7-4ADD-9344-F1B7F63D87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3ED33-7D25-4A9B-B1E0-77FBE2101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CEA96-27CD-4F8C-B651-E5DE021FCE7E}" type="datetimeFigureOut">
              <a:rPr lang="en-US" smtClean="0"/>
              <a:t>12/5/2021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DC7C32-E4CF-4B19-827D-9AF8C00ED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D5E922-96E9-4912-8514-D0CA844EB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90D37-741A-4FCF-AC2E-08925428E1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97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06CCB3-D94D-41FA-84DC-4C57270BF8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59F2C3-CD9D-424D-ADA9-493BB9BF15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539A70-266B-4EF8-A421-66608FBC7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CEA96-27CD-4F8C-B651-E5DE021FCE7E}" type="datetimeFigureOut">
              <a:rPr lang="en-US" smtClean="0"/>
              <a:t>12/5/2021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B9717-AE0C-4347-839D-D1EBDDC00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538E9B-1103-4264-803D-00AF65C48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90D37-741A-4FCF-AC2E-08925428E1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861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208C82-A2AC-4CA3-80B0-F06542E8B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F3930A-121E-4439-B4F8-99720D75B0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E91575-5B96-42C0-A72B-1C7655FB7D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ACEA96-27CD-4F8C-B651-E5DE021FCE7E}" type="datetimeFigureOut">
              <a:rPr lang="en-US" smtClean="0"/>
              <a:t>12/5/2021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7F0B2-EA46-491A-88A0-DF82B7EDA5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4E4ED7-9E05-4245-9EDA-1118B8C79C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290D37-741A-4FCF-AC2E-08925428E1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977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yahua/ruc/blob/master/homework/117/main.c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yahua/ruc/blob/master/homework/117/main.c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yahua/ruc/blob/master/homework/117/zzw.c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hyperlink" Target="https://www.geeksforgeeks.org/write-a-c-program-to-print-all-permutations-of-a-given-string/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619537-D31D-46AE-BFB8-540EF47546C4}"/>
              </a:ext>
            </a:extLst>
          </p:cNvPr>
          <p:cNvSpPr txBox="1"/>
          <p:nvPr/>
        </p:nvSpPr>
        <p:spPr>
          <a:xfrm>
            <a:off x="704674" y="773730"/>
            <a:ext cx="10628853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0" dirty="0">
                <a:effectLst/>
                <a:latin typeface="Consolas" panose="020B0609020204030204" pitchFamily="49" charset="0"/>
              </a:rPr>
              <a:t>#117. </a:t>
            </a:r>
            <a:r>
              <a:rPr lang="zh-CN" altLang="en-US" sz="1200" b="0" dirty="0">
                <a:effectLst/>
                <a:latin typeface="Consolas" panose="020B0609020204030204" pitchFamily="49" charset="0"/>
              </a:rPr>
              <a:t>摘桃子</a:t>
            </a:r>
          </a:p>
          <a:p>
            <a:r>
              <a:rPr lang="zh-CN" altLang="en-US" sz="1200" b="0" dirty="0">
                <a:effectLst/>
                <a:latin typeface="Consolas" panose="020B0609020204030204" pitchFamily="49" charset="0"/>
              </a:rPr>
              <a:t>内存限制：</a:t>
            </a:r>
            <a:r>
              <a:rPr lang="en-US" altLang="zh-CN" sz="1200" b="0" dirty="0">
                <a:effectLst/>
                <a:latin typeface="Consolas" panose="020B0609020204030204" pitchFamily="49" charset="0"/>
              </a:rPr>
              <a:t>256MiB</a:t>
            </a:r>
          </a:p>
          <a:p>
            <a:r>
              <a:rPr lang="zh-CN" altLang="en-US" sz="1200" b="0" dirty="0">
                <a:effectLst/>
                <a:latin typeface="Consolas" panose="020B0609020204030204" pitchFamily="49" charset="0"/>
              </a:rPr>
              <a:t>时间限制：</a:t>
            </a:r>
            <a:r>
              <a:rPr lang="en-US" altLang="zh-CN" sz="1200" b="0" dirty="0">
                <a:effectLst/>
                <a:latin typeface="Consolas" panose="020B0609020204030204" pitchFamily="49" charset="0"/>
              </a:rPr>
              <a:t>1000 </a:t>
            </a:r>
            <a:r>
              <a:rPr lang="en-US" altLang="zh-CN" sz="1200" b="0" dirty="0" err="1">
                <a:effectLst/>
                <a:latin typeface="Consolas" panose="020B0609020204030204" pitchFamily="49" charset="0"/>
              </a:rPr>
              <a:t>ms</a:t>
            </a:r>
            <a:endParaRPr lang="en-US" altLang="zh-CN" sz="1200" b="0" dirty="0">
              <a:effectLst/>
              <a:latin typeface="Consolas" panose="020B0609020204030204" pitchFamily="49" charset="0"/>
            </a:endParaRPr>
          </a:p>
          <a:p>
            <a:r>
              <a:rPr lang="zh-CN" altLang="en-US" sz="1200" b="0" dirty="0">
                <a:effectLst/>
                <a:latin typeface="Consolas" panose="020B0609020204030204" pitchFamily="49" charset="0"/>
              </a:rPr>
              <a:t>标准输入输出</a:t>
            </a:r>
          </a:p>
          <a:p>
            <a:r>
              <a:rPr lang="zh-CN" altLang="en-US" sz="1200" b="0" dirty="0">
                <a:effectLst/>
                <a:latin typeface="Consolas" panose="020B0609020204030204" pitchFamily="49" charset="0"/>
              </a:rPr>
              <a:t>题目类型：传统</a:t>
            </a:r>
          </a:p>
          <a:p>
            <a:r>
              <a:rPr lang="zh-CN" altLang="en-US" sz="1200" b="0" dirty="0">
                <a:effectLst/>
                <a:latin typeface="Consolas" panose="020B0609020204030204" pitchFamily="49" charset="0"/>
              </a:rPr>
              <a:t>评测方式：文本比较</a:t>
            </a:r>
          </a:p>
          <a:p>
            <a:r>
              <a:rPr lang="zh-CN" altLang="en-US" sz="1200" b="0" dirty="0">
                <a:effectLst/>
                <a:latin typeface="Consolas" panose="020B0609020204030204" pitchFamily="49" charset="0"/>
              </a:rPr>
              <a:t>上传者： </a:t>
            </a:r>
            <a:r>
              <a:rPr lang="en-US" altLang="zh-CN" sz="1200" b="0" dirty="0" err="1">
                <a:effectLst/>
                <a:latin typeface="Consolas" panose="020B0609020204030204" pitchFamily="49" charset="0"/>
              </a:rPr>
              <a:t>sunh</a:t>
            </a:r>
            <a:endParaRPr lang="en-US" altLang="zh-CN" sz="1200" b="0" dirty="0">
              <a:effectLst/>
              <a:latin typeface="Consolas" panose="020B0609020204030204" pitchFamily="49" charset="0"/>
            </a:endParaRPr>
          </a:p>
          <a:p>
            <a:r>
              <a:rPr lang="zh-CN" altLang="en-US" sz="1200" b="0" dirty="0">
                <a:effectLst/>
                <a:latin typeface="Consolas" panose="020B0609020204030204" pitchFamily="49" charset="0"/>
              </a:rPr>
              <a:t>提交记录</a:t>
            </a:r>
          </a:p>
          <a:p>
            <a:r>
              <a:rPr lang="zh-CN" altLang="en-US" sz="1200" b="0" dirty="0">
                <a:effectLst/>
                <a:latin typeface="Consolas" panose="020B0609020204030204" pitchFamily="49" charset="0"/>
              </a:rPr>
              <a:t>讨论</a:t>
            </a:r>
          </a:p>
          <a:p>
            <a:r>
              <a:rPr lang="zh-CN" altLang="en-US" sz="1200" b="0" dirty="0">
                <a:effectLst/>
                <a:latin typeface="Consolas" panose="020B0609020204030204" pitchFamily="49" charset="0"/>
              </a:rPr>
              <a:t>题目描述</a:t>
            </a:r>
          </a:p>
          <a:p>
            <a:r>
              <a:rPr lang="zh-CN" altLang="en-US" sz="1200" b="0" dirty="0">
                <a:effectLst/>
                <a:latin typeface="Consolas" panose="020B0609020204030204" pitchFamily="49" charset="0"/>
              </a:rPr>
              <a:t>一只小猴子正在到处觅食，突然他发现一颗长满桃子的树，小猴子特别高兴就决定爬上去摘桃子吃。 这颗长满桃子的树很大，共有</a:t>
            </a:r>
            <a:r>
              <a:rPr lang="en-US" altLang="zh-CN" sz="1200" b="0" dirty="0">
                <a:effectLst/>
                <a:latin typeface="Consolas" panose="020B0609020204030204" pitchFamily="49" charset="0"/>
              </a:rPr>
              <a:t>n</a:t>
            </a:r>
            <a:r>
              <a:rPr lang="zh-CN" altLang="en-US" sz="1200" b="0" dirty="0">
                <a:effectLst/>
                <a:latin typeface="Consolas" panose="020B0609020204030204" pitchFamily="49" charset="0"/>
              </a:rPr>
              <a:t>层（最高层为第</a:t>
            </a:r>
            <a:r>
              <a:rPr lang="en-US" altLang="zh-CN" sz="1200" b="0" dirty="0">
                <a:effectLst/>
                <a:latin typeface="Consolas" panose="020B0609020204030204" pitchFamily="49" charset="0"/>
              </a:rPr>
              <a:t>1</a:t>
            </a:r>
            <a:r>
              <a:rPr lang="zh-CN" altLang="en-US" sz="1200" b="0" dirty="0">
                <a:effectLst/>
                <a:latin typeface="Consolas" panose="020B0609020204030204" pitchFamily="49" charset="0"/>
              </a:rPr>
              <a:t>层），第</a:t>
            </a:r>
            <a:r>
              <a:rPr lang="en-US" altLang="zh-CN" sz="1200" b="0" dirty="0" err="1">
                <a:effectLst/>
                <a:latin typeface="Consolas" panose="020B0609020204030204" pitchFamily="49" charset="0"/>
              </a:rPr>
              <a:t>i</a:t>
            </a:r>
            <a:r>
              <a:rPr lang="zh-CN" altLang="en-US" sz="1200" b="0" dirty="0">
                <a:effectLst/>
                <a:latin typeface="Consolas" panose="020B0609020204030204" pitchFamily="49" charset="0"/>
              </a:rPr>
              <a:t>层有</a:t>
            </a:r>
            <a:r>
              <a:rPr lang="en-US" altLang="zh-CN" sz="1200" b="0" dirty="0" err="1">
                <a:effectLst/>
                <a:latin typeface="Consolas" panose="020B0609020204030204" pitchFamily="49" charset="0"/>
              </a:rPr>
              <a:t>i</a:t>
            </a:r>
            <a:r>
              <a:rPr lang="zh-CN" altLang="en-US" sz="1200" b="0" dirty="0">
                <a:effectLst/>
                <a:latin typeface="Consolas" panose="020B0609020204030204" pitchFamily="49" charset="0"/>
              </a:rPr>
              <a:t>条树枝，树的形状呈一个三角形（如图）：</a:t>
            </a:r>
          </a:p>
          <a:p>
            <a:br>
              <a:rPr lang="zh-CN" altLang="en-US" sz="1200" b="0" dirty="0">
                <a:effectLst/>
                <a:latin typeface="Consolas" panose="020B0609020204030204" pitchFamily="49" charset="0"/>
              </a:rPr>
            </a:br>
            <a:br>
              <a:rPr lang="zh-CN" altLang="en-US" sz="1200" b="0" dirty="0">
                <a:effectLst/>
                <a:latin typeface="Consolas" panose="020B0609020204030204" pitchFamily="49" charset="0"/>
              </a:rPr>
            </a:br>
            <a:br>
              <a:rPr lang="zh-CN" altLang="en-US" sz="1200" b="0" dirty="0">
                <a:effectLst/>
                <a:latin typeface="Consolas" panose="020B0609020204030204" pitchFamily="49" charset="0"/>
              </a:rPr>
            </a:br>
            <a:r>
              <a:rPr lang="zh-CN" altLang="en-US" sz="1200" b="0" dirty="0">
                <a:effectLst/>
                <a:latin typeface="Consolas" panose="020B0609020204030204" pitchFamily="49" charset="0"/>
              </a:rPr>
              <a:t>        图中的点表示树枝，每个点上方的数字当前这条树枝最多能摘到的桃子数（小于</a:t>
            </a:r>
            <a:r>
              <a:rPr lang="en-US" altLang="zh-CN" sz="1200" b="0" dirty="0">
                <a:effectLst/>
                <a:latin typeface="Consolas" panose="020B0609020204030204" pitchFamily="49" charset="0"/>
              </a:rPr>
              <a:t>100</a:t>
            </a:r>
            <a:r>
              <a:rPr lang="zh-CN" altLang="en-US" sz="1200" b="0" dirty="0">
                <a:effectLst/>
                <a:latin typeface="Consolas" panose="020B0609020204030204" pitchFamily="49" charset="0"/>
              </a:rPr>
              <a:t>），在摘得某枝条的桃子之后，小猴子只能选择往左上方爬或者是往右上方爬（也就是说在摘了有</a:t>
            </a:r>
            <a:r>
              <a:rPr lang="en-US" altLang="zh-CN" sz="1200" b="0" dirty="0">
                <a:effectLst/>
                <a:latin typeface="Consolas" panose="020B0609020204030204" pitchFamily="49" charset="0"/>
              </a:rPr>
              <a:t>6</a:t>
            </a:r>
            <a:r>
              <a:rPr lang="zh-CN" altLang="en-US" sz="1200" b="0" dirty="0">
                <a:effectLst/>
                <a:latin typeface="Consolas" panose="020B0609020204030204" pitchFamily="49" charset="0"/>
              </a:rPr>
              <a:t>个桃子的树枝之后只能摘有</a:t>
            </a:r>
            <a:r>
              <a:rPr lang="en-US" altLang="zh-CN" sz="1200" b="0" dirty="0">
                <a:effectLst/>
                <a:latin typeface="Consolas" panose="020B0609020204030204" pitchFamily="49" charset="0"/>
              </a:rPr>
              <a:t>2</a:t>
            </a:r>
            <a:r>
              <a:rPr lang="zh-CN" altLang="en-US" sz="1200" b="0" dirty="0">
                <a:effectLst/>
                <a:latin typeface="Consolas" panose="020B0609020204030204" pitchFamily="49" charset="0"/>
              </a:rPr>
              <a:t>个桃子的树枝或是有</a:t>
            </a:r>
            <a:r>
              <a:rPr lang="en-US" altLang="zh-CN" sz="1200" b="0" dirty="0">
                <a:effectLst/>
                <a:latin typeface="Consolas" panose="020B0609020204030204" pitchFamily="49" charset="0"/>
              </a:rPr>
              <a:t>3</a:t>
            </a:r>
            <a:r>
              <a:rPr lang="zh-CN" altLang="en-US" sz="1200" b="0" dirty="0">
                <a:effectLst/>
                <a:latin typeface="Consolas" panose="020B0609020204030204" pitchFamily="49" charset="0"/>
              </a:rPr>
              <a:t>个桃子的树枝），然后继续摘桃子。小猴子现在想要从最低层开始一直爬到树顶（也就是最上面的那个枝条），摘尽可能多的桃子。请你编程帮他解决这个问题。</a:t>
            </a:r>
          </a:p>
          <a:p>
            <a:br>
              <a:rPr lang="zh-CN" altLang="en-US" sz="1200" b="0" dirty="0">
                <a:effectLst/>
                <a:latin typeface="Consolas" panose="020B0609020204030204" pitchFamily="49" charset="0"/>
              </a:rPr>
            </a:br>
            <a:r>
              <a:rPr lang="zh-CN" altLang="en-US" sz="1200" b="0" dirty="0">
                <a:effectLst/>
                <a:latin typeface="Consolas" panose="020B0609020204030204" pitchFamily="49" charset="0"/>
              </a:rPr>
              <a:t>输入格式</a:t>
            </a:r>
          </a:p>
          <a:p>
            <a:br>
              <a:rPr lang="zh-CN" altLang="en-US" sz="1200" b="0" dirty="0">
                <a:effectLst/>
                <a:latin typeface="Consolas" panose="020B0609020204030204" pitchFamily="49" charset="0"/>
              </a:rPr>
            </a:br>
            <a:r>
              <a:rPr lang="zh-CN" altLang="en-US" sz="1200" b="0" dirty="0">
                <a:effectLst/>
                <a:latin typeface="Consolas" panose="020B0609020204030204" pitchFamily="49" charset="0"/>
              </a:rPr>
              <a:t>包含</a:t>
            </a:r>
            <a:r>
              <a:rPr lang="en-US" altLang="zh-CN" sz="1200" b="0" dirty="0">
                <a:effectLst/>
                <a:latin typeface="Consolas" panose="020B0609020204030204" pitchFamily="49" charset="0"/>
              </a:rPr>
              <a:t>n+1</a:t>
            </a:r>
            <a:r>
              <a:rPr lang="zh-CN" altLang="en-US" sz="1200" b="0" dirty="0">
                <a:effectLst/>
                <a:latin typeface="Consolas" panose="020B0609020204030204" pitchFamily="49" charset="0"/>
              </a:rPr>
              <a:t>行，第一行是一个整数</a:t>
            </a:r>
            <a:r>
              <a:rPr lang="en-US" altLang="zh-CN" sz="1200" b="0" dirty="0">
                <a:effectLst/>
                <a:latin typeface="Consolas" panose="020B0609020204030204" pitchFamily="49" charset="0"/>
              </a:rPr>
              <a:t>n</a:t>
            </a:r>
            <a:r>
              <a:rPr lang="zh-CN" altLang="en-US" sz="1200" b="0" dirty="0">
                <a:effectLst/>
                <a:latin typeface="Consolas" panose="020B0609020204030204" pitchFamily="49" charset="0"/>
              </a:rPr>
              <a:t>（</a:t>
            </a:r>
            <a:r>
              <a:rPr lang="en-US" altLang="zh-CN" sz="1200" b="0" dirty="0">
                <a:effectLst/>
                <a:latin typeface="Consolas" panose="020B0609020204030204" pitchFamily="49" charset="0"/>
              </a:rPr>
              <a:t>1&lt;=n&lt;=100</a:t>
            </a:r>
            <a:r>
              <a:rPr lang="zh-CN" altLang="en-US" sz="1200" b="0" dirty="0">
                <a:effectLst/>
                <a:latin typeface="Consolas" panose="020B0609020204030204" pitchFamily="49" charset="0"/>
              </a:rPr>
              <a:t>），表示这颗树一共有</a:t>
            </a:r>
            <a:r>
              <a:rPr lang="en-US" altLang="zh-CN" sz="1200" b="0" dirty="0">
                <a:effectLst/>
                <a:latin typeface="Consolas" panose="020B0609020204030204" pitchFamily="49" charset="0"/>
              </a:rPr>
              <a:t>n</a:t>
            </a:r>
            <a:r>
              <a:rPr lang="zh-CN" altLang="en-US" sz="1200" b="0" dirty="0">
                <a:effectLst/>
                <a:latin typeface="Consolas" panose="020B0609020204030204" pitchFamily="49" charset="0"/>
              </a:rPr>
              <a:t>层。</a:t>
            </a:r>
          </a:p>
          <a:p>
            <a:r>
              <a:rPr lang="zh-CN" altLang="en-US" sz="1200" b="0" dirty="0">
                <a:effectLst/>
                <a:latin typeface="Consolas" panose="020B0609020204030204" pitchFamily="49" charset="0"/>
              </a:rPr>
              <a:t>第</a:t>
            </a:r>
            <a:r>
              <a:rPr lang="en-US" altLang="zh-CN" sz="1200" b="0" dirty="0">
                <a:effectLst/>
                <a:latin typeface="Consolas" panose="020B0609020204030204" pitchFamily="49" charset="0"/>
              </a:rPr>
              <a:t>2~n+1</a:t>
            </a:r>
            <a:r>
              <a:rPr lang="zh-CN" altLang="en-US" sz="1200" b="0" dirty="0">
                <a:effectLst/>
                <a:latin typeface="Consolas" panose="020B0609020204030204" pitchFamily="49" charset="0"/>
              </a:rPr>
              <a:t>行中，第</a:t>
            </a:r>
            <a:r>
              <a:rPr lang="en-US" altLang="zh-CN" sz="1200" b="0" dirty="0" err="1">
                <a:effectLst/>
                <a:latin typeface="Consolas" panose="020B0609020204030204" pitchFamily="49" charset="0"/>
              </a:rPr>
              <a:t>i</a:t>
            </a:r>
            <a:r>
              <a:rPr lang="zh-CN" altLang="en-US" sz="1200" b="0" dirty="0">
                <a:effectLst/>
                <a:latin typeface="Consolas" panose="020B0609020204030204" pitchFamily="49" charset="0"/>
              </a:rPr>
              <a:t>行有</a:t>
            </a:r>
            <a:r>
              <a:rPr lang="en-US" altLang="zh-CN" sz="1200" b="0" dirty="0" err="1">
                <a:effectLst/>
                <a:latin typeface="Consolas" panose="020B0609020204030204" pitchFamily="49" charset="0"/>
              </a:rPr>
              <a:t>i</a:t>
            </a:r>
            <a:r>
              <a:rPr lang="zh-CN" altLang="en-US" sz="1200" b="0" dirty="0">
                <a:effectLst/>
                <a:latin typeface="Consolas" panose="020B0609020204030204" pitchFamily="49" charset="0"/>
              </a:rPr>
              <a:t>个用空格隔开的整数，表示树上第</a:t>
            </a:r>
            <a:r>
              <a:rPr lang="en-US" altLang="zh-CN" sz="1200" b="0" dirty="0" err="1">
                <a:effectLst/>
                <a:latin typeface="Consolas" panose="020B0609020204030204" pitchFamily="49" charset="0"/>
              </a:rPr>
              <a:t>i</a:t>
            </a:r>
            <a:r>
              <a:rPr lang="zh-CN" altLang="en-US" sz="1200" b="0" dirty="0">
                <a:effectLst/>
                <a:latin typeface="Consolas" panose="020B0609020204030204" pitchFamily="49" charset="0"/>
              </a:rPr>
              <a:t>层中每条树枝上的桃子数。</a:t>
            </a:r>
          </a:p>
          <a:p>
            <a:br>
              <a:rPr lang="zh-CN" altLang="en-US" sz="1200" b="0" dirty="0">
                <a:effectLst/>
                <a:latin typeface="Consolas" panose="020B0609020204030204" pitchFamily="49" charset="0"/>
              </a:rPr>
            </a:br>
            <a:r>
              <a:rPr lang="zh-CN" altLang="en-US" sz="1200" b="0" dirty="0">
                <a:effectLst/>
                <a:latin typeface="Consolas" panose="020B0609020204030204" pitchFamily="49" charset="0"/>
              </a:rPr>
              <a:t>输出格式</a:t>
            </a:r>
          </a:p>
          <a:p>
            <a:br>
              <a:rPr lang="zh-CN" altLang="en-US" sz="1200" b="0" dirty="0">
                <a:effectLst/>
                <a:latin typeface="Consolas" panose="020B0609020204030204" pitchFamily="49" charset="0"/>
              </a:rPr>
            </a:br>
            <a:r>
              <a:rPr lang="zh-CN" altLang="en-US" sz="1200" b="0" dirty="0">
                <a:effectLst/>
                <a:latin typeface="Consolas" panose="020B0609020204030204" pitchFamily="49" charset="0"/>
              </a:rPr>
              <a:t>共有一行，包括一个整数，表示小猴子能摘到的最多的桃子数。</a:t>
            </a:r>
            <a:endParaRPr lang="en-US" altLang="zh-CN" sz="1200" b="0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8781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619537-D31D-46AE-BFB8-540EF47546C4}"/>
              </a:ext>
            </a:extLst>
          </p:cNvPr>
          <p:cNvSpPr txBox="1"/>
          <p:nvPr/>
        </p:nvSpPr>
        <p:spPr>
          <a:xfrm>
            <a:off x="506136" y="984175"/>
            <a:ext cx="11685864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0" dirty="0">
                <a:effectLst/>
                <a:latin typeface="Consolas" panose="020B0609020204030204" pitchFamily="49" charset="0"/>
              </a:rPr>
              <a:t>输入样例</a:t>
            </a:r>
          </a:p>
          <a:p>
            <a:br>
              <a:rPr lang="zh-CN" altLang="en-US" sz="1200" b="0" dirty="0">
                <a:effectLst/>
                <a:latin typeface="Consolas" panose="020B0609020204030204" pitchFamily="49" charset="0"/>
              </a:rPr>
            </a:br>
            <a:r>
              <a:rPr lang="en-US" altLang="zh-CN" sz="1200" b="0" dirty="0">
                <a:effectLst/>
                <a:latin typeface="Consolas" panose="020B0609020204030204" pitchFamily="49" charset="0"/>
              </a:rPr>
              <a:t>3</a:t>
            </a:r>
          </a:p>
          <a:p>
            <a:r>
              <a:rPr lang="en-US" altLang="zh-CN" sz="1200" b="0" dirty="0">
                <a:effectLst/>
                <a:latin typeface="Consolas" panose="020B0609020204030204" pitchFamily="49" charset="0"/>
              </a:rPr>
              <a:t>1</a:t>
            </a:r>
          </a:p>
          <a:p>
            <a:r>
              <a:rPr lang="en-US" altLang="zh-CN" sz="1200" b="0" dirty="0">
                <a:effectLst/>
                <a:latin typeface="Consolas" panose="020B0609020204030204" pitchFamily="49" charset="0"/>
              </a:rPr>
              <a:t>2 3</a:t>
            </a:r>
          </a:p>
          <a:p>
            <a:r>
              <a:rPr lang="en-US" altLang="zh-CN" sz="1200" b="0" dirty="0">
                <a:effectLst/>
                <a:latin typeface="Consolas" panose="020B0609020204030204" pitchFamily="49" charset="0"/>
              </a:rPr>
              <a:t>4 6 5</a:t>
            </a:r>
          </a:p>
          <a:p>
            <a:br>
              <a:rPr lang="en-US" altLang="zh-CN" sz="1200" b="0" dirty="0">
                <a:effectLst/>
                <a:latin typeface="Consolas" panose="020B0609020204030204" pitchFamily="49" charset="0"/>
              </a:rPr>
            </a:br>
            <a:r>
              <a:rPr lang="zh-CN" altLang="en-US" sz="1200" b="0" dirty="0">
                <a:effectLst/>
                <a:latin typeface="Consolas" panose="020B0609020204030204" pitchFamily="49" charset="0"/>
              </a:rPr>
              <a:t>输出样例</a:t>
            </a:r>
          </a:p>
          <a:p>
            <a:br>
              <a:rPr lang="zh-CN" altLang="en-US" sz="1200" b="0" dirty="0">
                <a:effectLst/>
                <a:latin typeface="Consolas" panose="020B0609020204030204" pitchFamily="49" charset="0"/>
              </a:rPr>
            </a:br>
            <a:r>
              <a:rPr lang="en-US" altLang="zh-CN" sz="1200" b="0" dirty="0">
                <a:effectLst/>
                <a:latin typeface="Consolas" panose="020B0609020204030204" pitchFamily="49" charset="0"/>
              </a:rPr>
              <a:t>10</a:t>
            </a:r>
          </a:p>
          <a:p>
            <a:br>
              <a:rPr lang="en-US" altLang="zh-CN" sz="1200" b="0" dirty="0">
                <a:effectLst/>
                <a:latin typeface="Consolas" panose="020B0609020204030204" pitchFamily="49" charset="0"/>
              </a:rPr>
            </a:br>
            <a:r>
              <a:rPr lang="zh-CN" altLang="en-US" sz="1200" b="0" dirty="0">
                <a:effectLst/>
                <a:latin typeface="Consolas" panose="020B0609020204030204" pitchFamily="49" charset="0"/>
              </a:rPr>
              <a:t>特殊提示</a:t>
            </a:r>
          </a:p>
          <a:p>
            <a:br>
              <a:rPr lang="zh-CN" altLang="en-US" sz="1200" b="0" dirty="0">
                <a:effectLst/>
                <a:latin typeface="Consolas" panose="020B0609020204030204" pitchFamily="49" charset="0"/>
              </a:rPr>
            </a:br>
            <a:r>
              <a:rPr lang="zh-CN" altLang="en-US" sz="1200" b="0" dirty="0">
                <a:effectLst/>
                <a:latin typeface="Consolas" panose="020B0609020204030204" pitchFamily="49" charset="0"/>
              </a:rPr>
              <a:t>另一组测试数据</a:t>
            </a:r>
          </a:p>
          <a:p>
            <a:r>
              <a:rPr lang="zh-CN" altLang="en-US" sz="1200" b="0" dirty="0">
                <a:effectLst/>
                <a:latin typeface="Consolas" panose="020B0609020204030204" pitchFamily="49" charset="0"/>
              </a:rPr>
              <a:t>输入</a:t>
            </a:r>
            <a:r>
              <a:rPr lang="en-US" altLang="zh-CN" sz="1200" b="0" dirty="0"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zh-CN" sz="1200" b="0" dirty="0">
                <a:effectLst/>
                <a:latin typeface="Consolas" panose="020B0609020204030204" pitchFamily="49" charset="0"/>
              </a:rPr>
              <a:t>5</a:t>
            </a:r>
          </a:p>
          <a:p>
            <a:r>
              <a:rPr lang="en-US" altLang="zh-CN" sz="1200" b="0" dirty="0">
                <a:effectLst/>
                <a:latin typeface="Consolas" panose="020B0609020204030204" pitchFamily="49" charset="0"/>
              </a:rPr>
              <a:t>45</a:t>
            </a:r>
          </a:p>
          <a:p>
            <a:r>
              <a:rPr lang="en-US" altLang="zh-CN" sz="1200" b="0" dirty="0">
                <a:effectLst/>
                <a:latin typeface="Consolas" panose="020B0609020204030204" pitchFamily="49" charset="0"/>
              </a:rPr>
              <a:t>76 32</a:t>
            </a:r>
          </a:p>
          <a:p>
            <a:r>
              <a:rPr lang="en-US" altLang="zh-CN" sz="1200" b="0" dirty="0">
                <a:effectLst/>
                <a:latin typeface="Consolas" panose="020B0609020204030204" pitchFamily="49" charset="0"/>
              </a:rPr>
              <a:t>45 99 22</a:t>
            </a:r>
          </a:p>
          <a:p>
            <a:r>
              <a:rPr lang="en-US" altLang="zh-CN" sz="1200" b="0" dirty="0">
                <a:effectLst/>
                <a:latin typeface="Consolas" panose="020B0609020204030204" pitchFamily="49" charset="0"/>
              </a:rPr>
              <a:t>33 44 55 66</a:t>
            </a:r>
          </a:p>
          <a:p>
            <a:r>
              <a:rPr lang="en-US" altLang="zh-CN" sz="1200" b="0" dirty="0">
                <a:effectLst/>
                <a:latin typeface="Consolas" panose="020B0609020204030204" pitchFamily="49" charset="0"/>
              </a:rPr>
              <a:t>24 75 32 64 75</a:t>
            </a:r>
          </a:p>
          <a:p>
            <a:r>
              <a:rPr lang="zh-CN" altLang="en-US" sz="1200" b="0" dirty="0">
                <a:effectLst/>
                <a:latin typeface="Consolas" panose="020B0609020204030204" pitchFamily="49" charset="0"/>
              </a:rPr>
              <a:t>输出</a:t>
            </a:r>
            <a:r>
              <a:rPr lang="en-US" altLang="zh-CN" sz="1200" b="0" dirty="0"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zh-CN" sz="1200" b="0" dirty="0">
                <a:effectLst/>
                <a:latin typeface="Consolas" panose="020B0609020204030204" pitchFamily="49" charset="0"/>
              </a:rPr>
              <a:t>339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FF3E38-0B66-47B8-9820-46EA16ACE6C0}"/>
              </a:ext>
            </a:extLst>
          </p:cNvPr>
          <p:cNvSpPr txBox="1"/>
          <p:nvPr/>
        </p:nvSpPr>
        <p:spPr>
          <a:xfrm>
            <a:off x="7865302" y="6430158"/>
            <a:ext cx="432669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hlinkClick r:id="rId2"/>
              </a:rPr>
              <a:t>https://github.com/Nyahua/ruc/blob/master/homework/117/main.c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875906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4DB6164-BD22-41AF-BC4B-3C91A5AA6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280" y="166232"/>
            <a:ext cx="5458587" cy="65255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8F771A1-E73A-4726-AE3D-C444CE8482E2}"/>
              </a:ext>
            </a:extLst>
          </p:cNvPr>
          <p:cNvSpPr txBox="1"/>
          <p:nvPr/>
        </p:nvSpPr>
        <p:spPr>
          <a:xfrm>
            <a:off x="7865302" y="6430158"/>
            <a:ext cx="432669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hlinkClick r:id="rId3"/>
              </a:rPr>
              <a:t>https://github.com/Nyahua/ruc/blob/master/homework/117/main.c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878730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15A019-E6EC-40C0-8503-BA5254DC8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931" y="596482"/>
            <a:ext cx="6058746" cy="5782482"/>
          </a:xfrm>
          <a:prstGeom prst="rect">
            <a:avLst/>
          </a:prstGeom>
        </p:spPr>
      </p:pic>
      <p:sp>
        <p:nvSpPr>
          <p:cNvPr id="5" name="TextBox 4">
            <a:hlinkClick r:id="rId3"/>
            <a:extLst>
              <a:ext uri="{FF2B5EF4-FFF2-40B4-BE49-F238E27FC236}">
                <a16:creationId xmlns:a16="http://schemas.microsoft.com/office/drawing/2014/main" id="{BD872262-7155-46D2-A189-0577BC790250}"/>
              </a:ext>
            </a:extLst>
          </p:cNvPr>
          <p:cNvSpPr txBox="1"/>
          <p:nvPr/>
        </p:nvSpPr>
        <p:spPr>
          <a:xfrm>
            <a:off x="7747683" y="6534336"/>
            <a:ext cx="808489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hlinkClick r:id="rId3"/>
              </a:rPr>
              <a:t>https://github.com/Nyahua/ruc/blob/master/homework/117/zzw.c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951557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F072B3F-8D55-42A5-8EB5-20BD51BE6827}"/>
              </a:ext>
            </a:extLst>
          </p:cNvPr>
          <p:cNvSpPr txBox="1"/>
          <p:nvPr/>
        </p:nvSpPr>
        <p:spPr>
          <a:xfrm>
            <a:off x="1084277" y="662622"/>
            <a:ext cx="6094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b="1" i="0" dirty="0">
                <a:solidFill>
                  <a:srgbClr val="273239"/>
                </a:solidFill>
                <a:effectLst/>
                <a:latin typeface="sofia-pro"/>
                <a:hlinkClick r:id="rId2"/>
              </a:rPr>
              <a:t>C Program to print all permutations of a given string</a:t>
            </a:r>
            <a:endParaRPr lang="en-US" b="1" i="0" dirty="0">
              <a:solidFill>
                <a:srgbClr val="273239"/>
              </a:solidFill>
              <a:effectLst/>
              <a:latin typeface="sofia-pro"/>
            </a:endParaRPr>
          </a:p>
        </p:txBody>
      </p:sp>
      <p:pic>
        <p:nvPicPr>
          <p:cNvPr id="1026" name="Picture 2" descr="Lightbox">
            <a:extLst>
              <a:ext uri="{FF2B5EF4-FFF2-40B4-BE49-F238E27FC236}">
                <a16:creationId xmlns:a16="http://schemas.microsoft.com/office/drawing/2014/main" id="{822EDCBD-A1B5-4458-869F-BE9C6190BF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35219"/>
            <a:ext cx="12192000" cy="4959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9068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2DBEE8-A16A-4760-9E66-F638FE4CC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05" y="0"/>
            <a:ext cx="57087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966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572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sofia-pro</vt:lpstr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zhang ziwei</dc:creator>
  <cp:lastModifiedBy>zhang ziwei</cp:lastModifiedBy>
  <cp:revision>1</cp:revision>
  <dcterms:created xsi:type="dcterms:W3CDTF">2021-12-04T23:44:10Z</dcterms:created>
  <dcterms:modified xsi:type="dcterms:W3CDTF">2021-12-05T00:10:57Z</dcterms:modified>
</cp:coreProperties>
</file>